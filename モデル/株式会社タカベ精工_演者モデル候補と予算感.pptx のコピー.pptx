
<file path=[Content_Types].xml><?xml version="1.0" encoding="utf-8"?>
<Types xmlns="http://schemas.openxmlformats.org/package/2006/content-types">
  <Default Extension="crdownload" ContentType="image/pn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7"/>
  </p:notesMasterIdLst>
  <p:sldIdLst>
    <p:sldId id="259" r:id="rId2"/>
    <p:sldId id="261" r:id="rId3"/>
    <p:sldId id="262" r:id="rId4"/>
    <p:sldId id="263" r:id="rId5"/>
    <p:sldId id="264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5490"/>
    <a:srgbClr val="AE121A"/>
    <a:srgbClr val="7625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/>
    <p:restoredTop sz="94626"/>
  </p:normalViewPr>
  <p:slideViewPr>
    <p:cSldViewPr snapToGrid="0">
      <p:cViewPr varScale="1">
        <p:scale>
          <a:sx n="121" d="100"/>
          <a:sy n="121" d="100"/>
        </p:scale>
        <p:origin x="19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93D730-A3C3-2F4C-9E70-24A7B617936D}" type="datetimeFigureOut">
              <a:rPr kumimoji="1" lang="ja-JP" altLang="en-US" smtClean="0"/>
              <a:t>2025/6/16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27936D-9F5E-1E47-B84F-2B050F230E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8031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D7160-E9CC-7D4C-9B48-6DE609AD3D51}" type="datetimeFigureOut">
              <a:rPr kumimoji="1" lang="ja-JP" altLang="en-US" smtClean="0"/>
              <a:t>2025/6/16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3FDA3-8434-1849-A789-659AD8B10DB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0993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D7160-E9CC-7D4C-9B48-6DE609AD3D51}" type="datetimeFigureOut">
              <a:rPr kumimoji="1" lang="ja-JP" altLang="en-US" smtClean="0"/>
              <a:t>2025/6/16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3FDA3-8434-1849-A789-659AD8B10DB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14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D7160-E9CC-7D4C-9B48-6DE609AD3D51}" type="datetimeFigureOut">
              <a:rPr kumimoji="1" lang="ja-JP" altLang="en-US" smtClean="0"/>
              <a:t>2025/6/16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3FDA3-8434-1849-A789-659AD8B10DB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8518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D7160-E9CC-7D4C-9B48-6DE609AD3D51}" type="datetimeFigureOut">
              <a:rPr kumimoji="1" lang="ja-JP" altLang="en-US" smtClean="0"/>
              <a:t>2025/6/16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3FDA3-8434-1849-A789-659AD8B10DB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6609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D7160-E9CC-7D4C-9B48-6DE609AD3D51}" type="datetimeFigureOut">
              <a:rPr kumimoji="1" lang="ja-JP" altLang="en-US" smtClean="0"/>
              <a:t>2025/6/16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3FDA3-8434-1849-A789-659AD8B10DB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7008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D7160-E9CC-7D4C-9B48-6DE609AD3D51}" type="datetimeFigureOut">
              <a:rPr kumimoji="1" lang="ja-JP" altLang="en-US" smtClean="0"/>
              <a:t>2025/6/16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3FDA3-8434-1849-A789-659AD8B10DB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652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D7160-E9CC-7D4C-9B48-6DE609AD3D51}" type="datetimeFigureOut">
              <a:rPr kumimoji="1" lang="ja-JP" altLang="en-US" smtClean="0"/>
              <a:t>2025/6/16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3FDA3-8434-1849-A789-659AD8B10DB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9241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D7160-E9CC-7D4C-9B48-6DE609AD3D51}" type="datetimeFigureOut">
              <a:rPr kumimoji="1" lang="ja-JP" altLang="en-US" smtClean="0"/>
              <a:t>2025/6/16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3FDA3-8434-1849-A789-659AD8B10DB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2151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D7160-E9CC-7D4C-9B48-6DE609AD3D51}" type="datetimeFigureOut">
              <a:rPr kumimoji="1" lang="ja-JP" altLang="en-US" smtClean="0"/>
              <a:t>2025/6/16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3FDA3-8434-1849-A789-659AD8B10DB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4024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D7160-E9CC-7D4C-9B48-6DE609AD3D51}" type="datetimeFigureOut">
              <a:rPr kumimoji="1" lang="ja-JP" altLang="en-US" smtClean="0"/>
              <a:t>2025/6/16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3FDA3-8434-1849-A789-659AD8B10DB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962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D7160-E9CC-7D4C-9B48-6DE609AD3D51}" type="datetimeFigureOut">
              <a:rPr kumimoji="1" lang="ja-JP" altLang="en-US" smtClean="0"/>
              <a:t>2025/6/16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3FDA3-8434-1849-A789-659AD8B10DB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5530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CD7160-E9CC-7D4C-9B48-6DE609AD3D51}" type="datetimeFigureOut">
              <a:rPr kumimoji="1" lang="ja-JP" altLang="en-US" smtClean="0"/>
              <a:t>2025/6/16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43FDA3-8434-1849-A789-659AD8B10DB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2797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instagram.com/mika_4.1/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crdownload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stagram.com/mika_4.1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.crdownload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stagram.com/mika_4.1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2.crdownload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stagram.com/mika_4.1/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.crdownload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stagram.com/mika_4.1/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2.crdownload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8EC10-C768-BE41-12F1-80D2B7315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34126200-5E1C-D66F-AA86-98A496E09632}"/>
              </a:ext>
            </a:extLst>
          </p:cNvPr>
          <p:cNvCxnSpPr>
            <a:cxnSpLocks/>
          </p:cNvCxnSpPr>
          <p:nvPr/>
        </p:nvCxnSpPr>
        <p:spPr>
          <a:xfrm>
            <a:off x="0" y="817983"/>
            <a:ext cx="9144000" cy="0"/>
          </a:xfrm>
          <a:prstGeom prst="line">
            <a:avLst/>
          </a:prstGeom>
          <a:ln w="28575">
            <a:solidFill>
              <a:srgbClr val="2354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248ABA27-C8A3-FDCA-727A-DCC1036A2D70}"/>
              </a:ext>
            </a:extLst>
          </p:cNvPr>
          <p:cNvSpPr/>
          <p:nvPr/>
        </p:nvSpPr>
        <p:spPr>
          <a:xfrm>
            <a:off x="325821" y="381187"/>
            <a:ext cx="875962" cy="872358"/>
          </a:xfrm>
          <a:prstGeom prst="rect">
            <a:avLst/>
          </a:prstGeom>
          <a:solidFill>
            <a:srgbClr val="23549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3CAE5F71-17BD-5C80-0660-7727957E2AB8}"/>
              </a:ext>
            </a:extLst>
          </p:cNvPr>
          <p:cNvSpPr txBox="1"/>
          <p:nvPr/>
        </p:nvSpPr>
        <p:spPr>
          <a:xfrm>
            <a:off x="1739872" y="200917"/>
            <a:ext cx="60196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>
                <a:latin typeface="Yu Gothic" panose="020B0400000000000000" pitchFamily="34" charset="-128"/>
                <a:ea typeface="Yu Gothic" panose="020B0400000000000000" pitchFamily="34" charset="-128"/>
              </a:rPr>
              <a:t>演者モデル候補と予算感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6B2B06D-DA6B-FF4E-AE11-B7C7E273FE6E}"/>
              </a:ext>
            </a:extLst>
          </p:cNvPr>
          <p:cNvSpPr txBox="1"/>
          <p:nvPr/>
        </p:nvSpPr>
        <p:spPr>
          <a:xfrm>
            <a:off x="3862570" y="2041738"/>
            <a:ext cx="4196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KANA/</a:t>
            </a:r>
            <a:r>
              <a:rPr kumimoji="1" lang="ja-JP" altLang="en-US" sz="2400">
                <a:latin typeface="Yu Gothic" panose="020B0400000000000000" pitchFamily="34" charset="-128"/>
                <a:ea typeface="Yu Gothic" panose="020B0400000000000000" pitchFamily="34" charset="-128"/>
              </a:rPr>
              <a:t>フリーモデル</a:t>
            </a:r>
            <a:r>
              <a:rPr kumimoji="1" lang="en-US" altLang="ja-JP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/</a:t>
            </a:r>
            <a:r>
              <a:rPr kumimoji="1" lang="ja-JP" altLang="en-US" sz="2400">
                <a:latin typeface="Yu Gothic" panose="020B0400000000000000" pitchFamily="34" charset="-128"/>
                <a:ea typeface="Yu Gothic" panose="020B0400000000000000" pitchFamily="34" charset="-128"/>
              </a:rPr>
              <a:t>長野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48C2868-D356-A1AD-CA5E-F16A9A3B8429}"/>
              </a:ext>
            </a:extLst>
          </p:cNvPr>
          <p:cNvSpPr txBox="1"/>
          <p:nvPr/>
        </p:nvSpPr>
        <p:spPr>
          <a:xfrm>
            <a:off x="4283117" y="5523528"/>
            <a:ext cx="44524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u="sng" dirty="0">
                <a:latin typeface="Yu Gothic" panose="020B0400000000000000" pitchFamily="34" charset="-128"/>
                <a:ea typeface="Yu Gothic" panose="020B0400000000000000" pitchFamily="34" charset="-128"/>
              </a:rPr>
              <a:t>¥40,000/</a:t>
            </a:r>
            <a:r>
              <a:rPr kumimoji="1" lang="ja-JP" altLang="en-US" sz="1600" u="sng">
                <a:latin typeface="Yu Gothic" panose="020B0400000000000000" pitchFamily="34" charset="-128"/>
                <a:ea typeface="Yu Gothic" panose="020B0400000000000000" pitchFamily="34" charset="-128"/>
              </a:rPr>
              <a:t>回（</a:t>
            </a:r>
            <a:r>
              <a:rPr kumimoji="1" lang="en-US" altLang="ja-JP" sz="1600" u="sng" dirty="0">
                <a:latin typeface="Yu Gothic" panose="020B0400000000000000" pitchFamily="34" charset="-128"/>
                <a:ea typeface="Yu Gothic" panose="020B0400000000000000" pitchFamily="34" charset="-128"/>
              </a:rPr>
              <a:t>※</a:t>
            </a:r>
            <a:r>
              <a:rPr kumimoji="1" lang="ja-JP" altLang="en-US" sz="1600" u="sng">
                <a:latin typeface="Yu Gothic" panose="020B0400000000000000" pitchFamily="34" charset="-128"/>
                <a:ea typeface="Yu Gothic" panose="020B0400000000000000" pitchFamily="34" charset="-128"/>
              </a:rPr>
              <a:t>別途交通費）</a:t>
            </a:r>
            <a:r>
              <a:rPr kumimoji="1" lang="en-US" altLang="ja-JP" sz="1600" u="sng" dirty="0">
                <a:latin typeface="Yu Gothic" panose="020B0400000000000000" pitchFamily="34" charset="-128"/>
                <a:ea typeface="Yu Gothic" panose="020B0400000000000000" pitchFamily="34" charset="-128"/>
              </a:rPr>
              <a:t>×</a:t>
            </a:r>
            <a:r>
              <a:rPr kumimoji="1" lang="ja-JP" altLang="en-US" sz="1600" u="sng">
                <a:latin typeface="Yu Gothic" panose="020B0400000000000000" pitchFamily="34" charset="-128"/>
                <a:ea typeface="Yu Gothic" panose="020B0400000000000000" pitchFamily="34" charset="-128"/>
              </a:rPr>
              <a:t>撮影回数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F93CDFFE-6CCD-923C-9E8C-2B62F2A8CEBE}"/>
              </a:ext>
            </a:extLst>
          </p:cNvPr>
          <p:cNvSpPr/>
          <p:nvPr/>
        </p:nvSpPr>
        <p:spPr>
          <a:xfrm>
            <a:off x="4283118" y="3203842"/>
            <a:ext cx="1081481" cy="251598"/>
          </a:xfrm>
          <a:prstGeom prst="rect">
            <a:avLst/>
          </a:prstGeom>
          <a:solidFill>
            <a:srgbClr val="235490"/>
          </a:solidFill>
          <a:ln>
            <a:solidFill>
              <a:srgbClr val="2354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1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SNS</a:t>
            </a:r>
            <a:endParaRPr kumimoji="1" lang="ja-JP" altLang="en-US" sz="1100" b="1">
              <a:solidFill>
                <a:schemeClr val="bg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7" name="テキスト ボックス 16">
            <a:hlinkClick r:id="rId2"/>
            <a:extLst>
              <a:ext uri="{FF2B5EF4-FFF2-40B4-BE49-F238E27FC236}">
                <a16:creationId xmlns:a16="http://schemas.microsoft.com/office/drawing/2014/main" id="{832D6C3A-A4C6-E839-FEEA-0CADA893853D}"/>
              </a:ext>
            </a:extLst>
          </p:cNvPr>
          <p:cNvSpPr txBox="1"/>
          <p:nvPr/>
        </p:nvSpPr>
        <p:spPr>
          <a:xfrm>
            <a:off x="4283118" y="3727158"/>
            <a:ext cx="33554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ja-JP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https://</a:t>
            </a:r>
            <a:r>
              <a:rPr kumimoji="1" lang="en" altLang="ja-JP" sz="1200" dirty="0" err="1">
                <a:latin typeface="Yu Gothic" panose="020B0400000000000000" pitchFamily="34" charset="-128"/>
                <a:ea typeface="Yu Gothic" panose="020B0400000000000000" pitchFamily="34" charset="-128"/>
              </a:rPr>
              <a:t>www.instagram.com</a:t>
            </a:r>
            <a:r>
              <a:rPr kumimoji="1" lang="en" altLang="ja-JP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/</a:t>
            </a:r>
            <a:r>
              <a:rPr kumimoji="1" lang="en" altLang="ja-JP" sz="1200" dirty="0" err="1">
                <a:latin typeface="Yu Gothic" panose="020B0400000000000000" pitchFamily="34" charset="-128"/>
                <a:ea typeface="Yu Gothic" panose="020B0400000000000000" pitchFamily="34" charset="-128"/>
              </a:rPr>
              <a:t>fleurennui_girl</a:t>
            </a:r>
            <a:endParaRPr kumimoji="1" lang="ja-JP" altLang="en-US" sz="120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E23E24C3-F689-5603-E295-0E55ED88B7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099" y="3102305"/>
            <a:ext cx="430463" cy="430463"/>
          </a:xfrm>
          <a:prstGeom prst="rect">
            <a:avLst/>
          </a:prstGeom>
        </p:spPr>
      </p:pic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C5225C97-D3E3-74AF-B28C-5F315EBFF60A}"/>
              </a:ext>
            </a:extLst>
          </p:cNvPr>
          <p:cNvSpPr txBox="1"/>
          <p:nvPr/>
        </p:nvSpPr>
        <p:spPr>
          <a:xfrm>
            <a:off x="6049562" y="3203842"/>
            <a:ext cx="8210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FW 453</a:t>
            </a:r>
            <a:endParaRPr kumimoji="1" lang="ja-JP" altLang="en-US" sz="1400" b="1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B6EBC30F-B931-DF9E-A56B-24B398F71E72}"/>
              </a:ext>
            </a:extLst>
          </p:cNvPr>
          <p:cNvSpPr/>
          <p:nvPr/>
        </p:nvSpPr>
        <p:spPr>
          <a:xfrm>
            <a:off x="4283117" y="5002418"/>
            <a:ext cx="1081481" cy="251598"/>
          </a:xfrm>
          <a:prstGeom prst="rect">
            <a:avLst/>
          </a:prstGeom>
          <a:solidFill>
            <a:srgbClr val="235490"/>
          </a:solidFill>
          <a:ln>
            <a:solidFill>
              <a:srgbClr val="2354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想定予算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4A561BBF-C2CE-589C-25C8-D117667FFA33}"/>
              </a:ext>
            </a:extLst>
          </p:cNvPr>
          <p:cNvSpPr txBox="1"/>
          <p:nvPr/>
        </p:nvSpPr>
        <p:spPr>
          <a:xfrm>
            <a:off x="583304" y="586533"/>
            <a:ext cx="360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1</a:t>
            </a:r>
            <a:endParaRPr kumimoji="1" lang="ja-JP" altLang="en-US" sz="2400" b="1">
              <a:solidFill>
                <a:schemeClr val="bg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00724709-73FD-4EE0-77A3-1708F7C219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3179" y="301439"/>
            <a:ext cx="1905000" cy="3175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6FD18200-304D-A04F-FE5D-3684B3CE40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304" y="1804536"/>
            <a:ext cx="3197052" cy="4082859"/>
          </a:xfrm>
          <a:prstGeom prst="rect">
            <a:avLst/>
          </a:prstGeom>
        </p:spPr>
      </p:pic>
      <p:pic>
        <p:nvPicPr>
          <p:cNvPr id="21" name="図 20">
            <a:extLst>
              <a:ext uri="{FF2B5EF4-FFF2-40B4-BE49-F238E27FC236}">
                <a16:creationId xmlns:a16="http://schemas.microsoft.com/office/drawing/2014/main" id="{C81073BD-86A2-4382-E9FB-C50BED8B44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6688" y="4003617"/>
            <a:ext cx="450624" cy="450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529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91242-55D9-84ED-5B73-D13A64A33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7DF2358A-3BD3-60F8-52DE-081BF18892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03" y="1804536"/>
            <a:ext cx="3345693" cy="4057542"/>
          </a:xfrm>
          <a:prstGeom prst="rect">
            <a:avLst/>
          </a:prstGeom>
        </p:spPr>
      </p:pic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38A71801-F2AB-4048-5296-91B241A5E9FD}"/>
              </a:ext>
            </a:extLst>
          </p:cNvPr>
          <p:cNvCxnSpPr>
            <a:cxnSpLocks/>
          </p:cNvCxnSpPr>
          <p:nvPr/>
        </p:nvCxnSpPr>
        <p:spPr>
          <a:xfrm>
            <a:off x="0" y="817983"/>
            <a:ext cx="9144000" cy="0"/>
          </a:xfrm>
          <a:prstGeom prst="line">
            <a:avLst/>
          </a:prstGeom>
          <a:ln w="28575">
            <a:solidFill>
              <a:srgbClr val="2354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9115C219-BA1A-C272-215B-D87CB48482E4}"/>
              </a:ext>
            </a:extLst>
          </p:cNvPr>
          <p:cNvSpPr/>
          <p:nvPr/>
        </p:nvSpPr>
        <p:spPr>
          <a:xfrm>
            <a:off x="325821" y="381187"/>
            <a:ext cx="875962" cy="872358"/>
          </a:xfrm>
          <a:prstGeom prst="rect">
            <a:avLst/>
          </a:prstGeom>
          <a:solidFill>
            <a:srgbClr val="23549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D22C44D-3402-9D9A-BC8D-480E2EB94168}"/>
              </a:ext>
            </a:extLst>
          </p:cNvPr>
          <p:cNvSpPr txBox="1"/>
          <p:nvPr/>
        </p:nvSpPr>
        <p:spPr>
          <a:xfrm>
            <a:off x="1739872" y="200917"/>
            <a:ext cx="60196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>
                <a:latin typeface="Yu Gothic" panose="020B0400000000000000" pitchFamily="34" charset="-128"/>
                <a:ea typeface="Yu Gothic" panose="020B0400000000000000" pitchFamily="34" charset="-128"/>
              </a:rPr>
              <a:t>演者モデル候補と予算感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1D0F6EE-0452-5EE9-B17C-420938463DFE}"/>
              </a:ext>
            </a:extLst>
          </p:cNvPr>
          <p:cNvSpPr txBox="1"/>
          <p:nvPr/>
        </p:nvSpPr>
        <p:spPr>
          <a:xfrm>
            <a:off x="3862571" y="2041738"/>
            <a:ext cx="52814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>
                <a:latin typeface="Yu Gothic" panose="020B0400000000000000" pitchFamily="34" charset="-128"/>
                <a:ea typeface="Yu Gothic" panose="020B0400000000000000" pitchFamily="34" charset="-128"/>
              </a:rPr>
              <a:t>雫乃つむぎ</a:t>
            </a:r>
            <a:r>
              <a:rPr kumimoji="1" lang="en-US" altLang="ja-JP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/</a:t>
            </a:r>
            <a:r>
              <a:rPr kumimoji="1" lang="ja-JP" altLang="en-US" sz="2400">
                <a:latin typeface="Yu Gothic" panose="020B0400000000000000" pitchFamily="34" charset="-128"/>
                <a:ea typeface="Yu Gothic" panose="020B0400000000000000" pitchFamily="34" charset="-128"/>
              </a:rPr>
              <a:t>フリーモデル</a:t>
            </a:r>
            <a:r>
              <a:rPr kumimoji="1" lang="en-US" altLang="ja-JP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/</a:t>
            </a:r>
            <a:r>
              <a:rPr kumimoji="1" lang="ja-JP" altLang="en-US" sz="2400">
                <a:latin typeface="Yu Gothic" panose="020B0400000000000000" pitchFamily="34" charset="-128"/>
                <a:ea typeface="Yu Gothic" panose="020B0400000000000000" pitchFamily="34" charset="-128"/>
              </a:rPr>
              <a:t>長野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EA17799-4BD7-5946-F352-49C36E7062B8}"/>
              </a:ext>
            </a:extLst>
          </p:cNvPr>
          <p:cNvSpPr txBox="1"/>
          <p:nvPr/>
        </p:nvSpPr>
        <p:spPr>
          <a:xfrm>
            <a:off x="4409239" y="5523528"/>
            <a:ext cx="44524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u="sng" dirty="0">
                <a:latin typeface="Yu Gothic" panose="020B0400000000000000" pitchFamily="34" charset="-128"/>
                <a:ea typeface="Yu Gothic" panose="020B0400000000000000" pitchFamily="34" charset="-128"/>
              </a:rPr>
              <a:t>¥40,000/</a:t>
            </a:r>
            <a:r>
              <a:rPr kumimoji="1" lang="ja-JP" altLang="en-US" sz="1600" u="sng">
                <a:latin typeface="Yu Gothic" panose="020B0400000000000000" pitchFamily="34" charset="-128"/>
                <a:ea typeface="Yu Gothic" panose="020B0400000000000000" pitchFamily="34" charset="-128"/>
              </a:rPr>
              <a:t>回（</a:t>
            </a:r>
            <a:r>
              <a:rPr kumimoji="1" lang="en-US" altLang="ja-JP" sz="1600" u="sng" dirty="0">
                <a:latin typeface="Yu Gothic" panose="020B0400000000000000" pitchFamily="34" charset="-128"/>
                <a:ea typeface="Yu Gothic" panose="020B0400000000000000" pitchFamily="34" charset="-128"/>
              </a:rPr>
              <a:t>※</a:t>
            </a:r>
            <a:r>
              <a:rPr kumimoji="1" lang="ja-JP" altLang="en-US" sz="1600" u="sng">
                <a:latin typeface="Yu Gothic" panose="020B0400000000000000" pitchFamily="34" charset="-128"/>
                <a:ea typeface="Yu Gothic" panose="020B0400000000000000" pitchFamily="34" charset="-128"/>
              </a:rPr>
              <a:t>別途交通費）</a:t>
            </a:r>
            <a:r>
              <a:rPr kumimoji="1" lang="en-US" altLang="ja-JP" sz="1600" u="sng" dirty="0">
                <a:latin typeface="Yu Gothic" panose="020B0400000000000000" pitchFamily="34" charset="-128"/>
                <a:ea typeface="Yu Gothic" panose="020B0400000000000000" pitchFamily="34" charset="-128"/>
              </a:rPr>
              <a:t>×</a:t>
            </a:r>
            <a:r>
              <a:rPr kumimoji="1" lang="ja-JP" altLang="en-US" sz="1600" u="sng">
                <a:latin typeface="Yu Gothic" panose="020B0400000000000000" pitchFamily="34" charset="-128"/>
                <a:ea typeface="Yu Gothic" panose="020B0400000000000000" pitchFamily="34" charset="-128"/>
              </a:rPr>
              <a:t>撮影回数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4531165B-52A2-9AE6-5CCE-F091F4E9BBBA}"/>
              </a:ext>
            </a:extLst>
          </p:cNvPr>
          <p:cNvSpPr/>
          <p:nvPr/>
        </p:nvSpPr>
        <p:spPr>
          <a:xfrm>
            <a:off x="4409240" y="3203842"/>
            <a:ext cx="1081481" cy="251598"/>
          </a:xfrm>
          <a:prstGeom prst="rect">
            <a:avLst/>
          </a:prstGeom>
          <a:solidFill>
            <a:srgbClr val="235490"/>
          </a:solidFill>
          <a:ln>
            <a:solidFill>
              <a:srgbClr val="2354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1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SNS</a:t>
            </a:r>
            <a:endParaRPr kumimoji="1" lang="ja-JP" altLang="en-US" sz="1100" b="1">
              <a:solidFill>
                <a:schemeClr val="bg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7" name="テキスト ボックス 16">
            <a:hlinkClick r:id="rId3"/>
            <a:extLst>
              <a:ext uri="{FF2B5EF4-FFF2-40B4-BE49-F238E27FC236}">
                <a16:creationId xmlns:a16="http://schemas.microsoft.com/office/drawing/2014/main" id="{78677459-C777-F912-352A-7D9C52BEA6CE}"/>
              </a:ext>
            </a:extLst>
          </p:cNvPr>
          <p:cNvSpPr txBox="1"/>
          <p:nvPr/>
        </p:nvSpPr>
        <p:spPr>
          <a:xfrm>
            <a:off x="4409240" y="3727158"/>
            <a:ext cx="33217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ja-JP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https://</a:t>
            </a:r>
            <a:r>
              <a:rPr kumimoji="1" lang="en" altLang="ja-JP" sz="1200" dirty="0" err="1">
                <a:latin typeface="Yu Gothic" panose="020B0400000000000000" pitchFamily="34" charset="-128"/>
                <a:ea typeface="Yu Gothic" panose="020B0400000000000000" pitchFamily="34" charset="-128"/>
              </a:rPr>
              <a:t>www.instagram.com</a:t>
            </a:r>
            <a:r>
              <a:rPr kumimoji="1" lang="en" altLang="ja-JP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/</a:t>
            </a:r>
            <a:r>
              <a:rPr kumimoji="1" lang="en" altLang="ja-JP" sz="1200" dirty="0" err="1">
                <a:latin typeface="Yu Gothic" panose="020B0400000000000000" pitchFamily="34" charset="-128"/>
                <a:ea typeface="Yu Gothic" panose="020B0400000000000000" pitchFamily="34" charset="-128"/>
              </a:rPr>
              <a:t>tsumugidayo</a:t>
            </a:r>
            <a:r>
              <a:rPr kumimoji="1" lang="en" altLang="ja-JP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_</a:t>
            </a:r>
            <a:endParaRPr kumimoji="1" lang="ja-JP" altLang="en-US" sz="120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F57A9CDB-3E96-7700-4D10-FEAD2B6619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5221" y="3102305"/>
            <a:ext cx="430463" cy="430463"/>
          </a:xfrm>
          <a:prstGeom prst="rect">
            <a:avLst/>
          </a:prstGeom>
        </p:spPr>
      </p:pic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8BD46986-FE1A-8330-E902-A2B0853DDB8F}"/>
              </a:ext>
            </a:extLst>
          </p:cNvPr>
          <p:cNvSpPr txBox="1"/>
          <p:nvPr/>
        </p:nvSpPr>
        <p:spPr>
          <a:xfrm>
            <a:off x="6175684" y="3203842"/>
            <a:ext cx="8210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FW 104</a:t>
            </a:r>
            <a:endParaRPr kumimoji="1" lang="ja-JP" altLang="en-US" sz="1400" b="1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F501610C-D098-FD85-29FA-24AB5C90ED47}"/>
              </a:ext>
            </a:extLst>
          </p:cNvPr>
          <p:cNvSpPr/>
          <p:nvPr/>
        </p:nvSpPr>
        <p:spPr>
          <a:xfrm>
            <a:off x="4409239" y="5002418"/>
            <a:ext cx="1081481" cy="251598"/>
          </a:xfrm>
          <a:prstGeom prst="rect">
            <a:avLst/>
          </a:prstGeom>
          <a:solidFill>
            <a:srgbClr val="235490"/>
          </a:solidFill>
          <a:ln>
            <a:solidFill>
              <a:srgbClr val="2354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想定予算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78935A2B-21FC-CC8B-E54F-8BE205FD4D75}"/>
              </a:ext>
            </a:extLst>
          </p:cNvPr>
          <p:cNvSpPr txBox="1"/>
          <p:nvPr/>
        </p:nvSpPr>
        <p:spPr>
          <a:xfrm>
            <a:off x="583304" y="586533"/>
            <a:ext cx="360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2</a:t>
            </a:r>
            <a:endParaRPr kumimoji="1" lang="ja-JP" altLang="en-US" sz="2400" b="1">
              <a:solidFill>
                <a:schemeClr val="bg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1320D9C-984F-2B21-547F-292D41E311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3179" y="301439"/>
            <a:ext cx="1905000" cy="317500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1C1A6F2F-1485-8E5C-1A9C-7386F3ED17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9355" y="4003077"/>
            <a:ext cx="450624" cy="450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014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76757-89DF-75BB-8B92-0425A47D7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03E7889E-74E5-CC76-47B0-DA521016BB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03" y="1804536"/>
            <a:ext cx="3488621" cy="4057535"/>
          </a:xfrm>
          <a:prstGeom prst="rect">
            <a:avLst/>
          </a:prstGeom>
        </p:spPr>
      </p:pic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B2055607-E8C6-34F2-D149-0AB852255807}"/>
              </a:ext>
            </a:extLst>
          </p:cNvPr>
          <p:cNvCxnSpPr>
            <a:cxnSpLocks/>
          </p:cNvCxnSpPr>
          <p:nvPr/>
        </p:nvCxnSpPr>
        <p:spPr>
          <a:xfrm>
            <a:off x="0" y="817983"/>
            <a:ext cx="9144000" cy="0"/>
          </a:xfrm>
          <a:prstGeom prst="line">
            <a:avLst/>
          </a:prstGeom>
          <a:ln w="28575">
            <a:solidFill>
              <a:srgbClr val="2354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01313EF-6810-4767-CD9B-DD8E5407DD51}"/>
              </a:ext>
            </a:extLst>
          </p:cNvPr>
          <p:cNvSpPr/>
          <p:nvPr/>
        </p:nvSpPr>
        <p:spPr>
          <a:xfrm>
            <a:off x="325821" y="381187"/>
            <a:ext cx="875962" cy="872358"/>
          </a:xfrm>
          <a:prstGeom prst="rect">
            <a:avLst/>
          </a:prstGeom>
          <a:solidFill>
            <a:srgbClr val="23549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CA93640-205D-35D0-A65A-39A271C300B7}"/>
              </a:ext>
            </a:extLst>
          </p:cNvPr>
          <p:cNvSpPr txBox="1"/>
          <p:nvPr/>
        </p:nvSpPr>
        <p:spPr>
          <a:xfrm>
            <a:off x="1739872" y="200917"/>
            <a:ext cx="60196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>
                <a:latin typeface="Yu Gothic" panose="020B0400000000000000" pitchFamily="34" charset="-128"/>
                <a:ea typeface="Yu Gothic" panose="020B0400000000000000" pitchFamily="34" charset="-128"/>
              </a:rPr>
              <a:t>演者モデル候補と予算感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0152B7A-6224-31BB-037A-1A2E067726B8}"/>
              </a:ext>
            </a:extLst>
          </p:cNvPr>
          <p:cNvSpPr txBox="1"/>
          <p:nvPr/>
        </p:nvSpPr>
        <p:spPr>
          <a:xfrm>
            <a:off x="3862571" y="2041738"/>
            <a:ext cx="52814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>
                <a:latin typeface="Yu Gothic" panose="020B0400000000000000" pitchFamily="34" charset="-128"/>
                <a:ea typeface="Yu Gothic" panose="020B0400000000000000" pitchFamily="34" charset="-128"/>
              </a:rPr>
              <a:t>甘栗もなか</a:t>
            </a:r>
            <a:r>
              <a:rPr kumimoji="1" lang="en-US" altLang="ja-JP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/</a:t>
            </a:r>
            <a:r>
              <a:rPr kumimoji="1" lang="ja-JP" altLang="en-US" sz="2400">
                <a:latin typeface="Yu Gothic" panose="020B0400000000000000" pitchFamily="34" charset="-128"/>
                <a:ea typeface="Yu Gothic" panose="020B0400000000000000" pitchFamily="34" charset="-128"/>
              </a:rPr>
              <a:t>フリーモデル</a:t>
            </a:r>
            <a:r>
              <a:rPr kumimoji="1" lang="en-US" altLang="ja-JP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/</a:t>
            </a:r>
            <a:r>
              <a:rPr kumimoji="1" lang="ja-JP" altLang="en-US" sz="2400">
                <a:latin typeface="Yu Gothic" panose="020B0400000000000000" pitchFamily="34" charset="-128"/>
                <a:ea typeface="Yu Gothic" panose="020B0400000000000000" pitchFamily="34" charset="-128"/>
              </a:rPr>
              <a:t>長野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20D4DB1-B61B-F5CF-01C9-8C7E6FB24587}"/>
              </a:ext>
            </a:extLst>
          </p:cNvPr>
          <p:cNvSpPr txBox="1"/>
          <p:nvPr/>
        </p:nvSpPr>
        <p:spPr>
          <a:xfrm>
            <a:off x="4409239" y="5523528"/>
            <a:ext cx="44524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u="sng" dirty="0">
                <a:latin typeface="Yu Gothic" panose="020B0400000000000000" pitchFamily="34" charset="-128"/>
                <a:ea typeface="Yu Gothic" panose="020B0400000000000000" pitchFamily="34" charset="-128"/>
              </a:rPr>
              <a:t>¥40,000/</a:t>
            </a:r>
            <a:r>
              <a:rPr kumimoji="1" lang="ja-JP" altLang="en-US" sz="1600" u="sng">
                <a:latin typeface="Yu Gothic" panose="020B0400000000000000" pitchFamily="34" charset="-128"/>
                <a:ea typeface="Yu Gothic" panose="020B0400000000000000" pitchFamily="34" charset="-128"/>
              </a:rPr>
              <a:t>回（</a:t>
            </a:r>
            <a:r>
              <a:rPr kumimoji="1" lang="en-US" altLang="ja-JP" sz="1600" u="sng" dirty="0">
                <a:latin typeface="Yu Gothic" panose="020B0400000000000000" pitchFamily="34" charset="-128"/>
                <a:ea typeface="Yu Gothic" panose="020B0400000000000000" pitchFamily="34" charset="-128"/>
              </a:rPr>
              <a:t>※</a:t>
            </a:r>
            <a:r>
              <a:rPr kumimoji="1" lang="ja-JP" altLang="en-US" sz="1600" u="sng">
                <a:latin typeface="Yu Gothic" panose="020B0400000000000000" pitchFamily="34" charset="-128"/>
                <a:ea typeface="Yu Gothic" panose="020B0400000000000000" pitchFamily="34" charset="-128"/>
              </a:rPr>
              <a:t>別途交通費）</a:t>
            </a:r>
            <a:r>
              <a:rPr kumimoji="1" lang="en-US" altLang="ja-JP" sz="1600" u="sng" dirty="0">
                <a:latin typeface="Yu Gothic" panose="020B0400000000000000" pitchFamily="34" charset="-128"/>
                <a:ea typeface="Yu Gothic" panose="020B0400000000000000" pitchFamily="34" charset="-128"/>
              </a:rPr>
              <a:t>×</a:t>
            </a:r>
            <a:r>
              <a:rPr kumimoji="1" lang="ja-JP" altLang="en-US" sz="1600" u="sng">
                <a:latin typeface="Yu Gothic" panose="020B0400000000000000" pitchFamily="34" charset="-128"/>
                <a:ea typeface="Yu Gothic" panose="020B0400000000000000" pitchFamily="34" charset="-128"/>
              </a:rPr>
              <a:t>撮影回数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7A3A3358-568F-B308-C5F7-76B465AC4F0B}"/>
              </a:ext>
            </a:extLst>
          </p:cNvPr>
          <p:cNvSpPr/>
          <p:nvPr/>
        </p:nvSpPr>
        <p:spPr>
          <a:xfrm>
            <a:off x="4409240" y="3203842"/>
            <a:ext cx="1081481" cy="251598"/>
          </a:xfrm>
          <a:prstGeom prst="rect">
            <a:avLst/>
          </a:prstGeom>
          <a:solidFill>
            <a:srgbClr val="235490"/>
          </a:solidFill>
          <a:ln>
            <a:solidFill>
              <a:srgbClr val="2354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1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SNS</a:t>
            </a:r>
            <a:endParaRPr kumimoji="1" lang="ja-JP" altLang="en-US" sz="1100" b="1">
              <a:solidFill>
                <a:schemeClr val="bg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7" name="テキスト ボックス 16">
            <a:hlinkClick r:id="rId3"/>
            <a:extLst>
              <a:ext uri="{FF2B5EF4-FFF2-40B4-BE49-F238E27FC236}">
                <a16:creationId xmlns:a16="http://schemas.microsoft.com/office/drawing/2014/main" id="{9CBEF5E5-D49F-DE20-71DC-B3542533AA1A}"/>
              </a:ext>
            </a:extLst>
          </p:cNvPr>
          <p:cNvSpPr txBox="1"/>
          <p:nvPr/>
        </p:nvSpPr>
        <p:spPr>
          <a:xfrm>
            <a:off x="4409240" y="3727158"/>
            <a:ext cx="32976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ja-JP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https://</a:t>
            </a:r>
            <a:r>
              <a:rPr kumimoji="1" lang="en" altLang="ja-JP" sz="1200" dirty="0" err="1">
                <a:latin typeface="Yu Gothic" panose="020B0400000000000000" pitchFamily="34" charset="-128"/>
                <a:ea typeface="Yu Gothic" panose="020B0400000000000000" pitchFamily="34" charset="-128"/>
              </a:rPr>
              <a:t>www.instagram.com</a:t>
            </a:r>
            <a:r>
              <a:rPr kumimoji="1" lang="en" altLang="ja-JP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/</a:t>
            </a:r>
            <a:r>
              <a:rPr kumimoji="1" lang="en" altLang="ja-JP" sz="1200" dirty="0" err="1">
                <a:latin typeface="Yu Gothic" panose="020B0400000000000000" pitchFamily="34" charset="-128"/>
                <a:ea typeface="Yu Gothic" panose="020B0400000000000000" pitchFamily="34" charset="-128"/>
              </a:rPr>
              <a:t>mona.comcom</a:t>
            </a:r>
            <a:endParaRPr kumimoji="1" lang="ja-JP" altLang="en-US" sz="120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B3B35AC5-A99B-BB2E-CC8A-03C344F467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5221" y="3102305"/>
            <a:ext cx="430463" cy="430463"/>
          </a:xfrm>
          <a:prstGeom prst="rect">
            <a:avLst/>
          </a:prstGeom>
        </p:spPr>
      </p:pic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08C7E1A6-AA5F-8E09-7D8B-29DCEA242A98}"/>
              </a:ext>
            </a:extLst>
          </p:cNvPr>
          <p:cNvSpPr txBox="1"/>
          <p:nvPr/>
        </p:nvSpPr>
        <p:spPr>
          <a:xfrm>
            <a:off x="6175684" y="3203842"/>
            <a:ext cx="8210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FW 402</a:t>
            </a:r>
            <a:endParaRPr kumimoji="1" lang="ja-JP" altLang="en-US" sz="1400" b="1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23DF2A7A-DD59-D3EB-6FEC-81FAD0494FC8}"/>
              </a:ext>
            </a:extLst>
          </p:cNvPr>
          <p:cNvSpPr/>
          <p:nvPr/>
        </p:nvSpPr>
        <p:spPr>
          <a:xfrm>
            <a:off x="4409239" y="5002418"/>
            <a:ext cx="1081481" cy="251598"/>
          </a:xfrm>
          <a:prstGeom prst="rect">
            <a:avLst/>
          </a:prstGeom>
          <a:solidFill>
            <a:srgbClr val="235490"/>
          </a:solidFill>
          <a:ln>
            <a:solidFill>
              <a:srgbClr val="2354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想定予算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E1C74E97-BC14-88BC-0BC7-D4E1D23ED0AD}"/>
              </a:ext>
            </a:extLst>
          </p:cNvPr>
          <p:cNvSpPr txBox="1"/>
          <p:nvPr/>
        </p:nvSpPr>
        <p:spPr>
          <a:xfrm>
            <a:off x="583304" y="586533"/>
            <a:ext cx="360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3</a:t>
            </a:r>
            <a:endParaRPr kumimoji="1" lang="ja-JP" altLang="en-US" sz="2400" b="1">
              <a:solidFill>
                <a:schemeClr val="bg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AD2701C-5B4C-BA94-CEAB-D501BD68C0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3179" y="301439"/>
            <a:ext cx="1905000" cy="3175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8DF14526-907C-DC66-D3DD-014C725A23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9239" y="4003617"/>
            <a:ext cx="450624" cy="450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450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AF34E-714F-9948-0BF5-6372649F5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BCD7D987-8EBE-9202-9001-F35548A955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894" y="1804536"/>
            <a:ext cx="3365437" cy="4057523"/>
          </a:xfrm>
          <a:prstGeom prst="rect">
            <a:avLst/>
          </a:prstGeom>
        </p:spPr>
      </p:pic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03C6E277-1D09-CE22-C797-EE2DB8C616E1}"/>
              </a:ext>
            </a:extLst>
          </p:cNvPr>
          <p:cNvCxnSpPr>
            <a:cxnSpLocks/>
          </p:cNvCxnSpPr>
          <p:nvPr/>
        </p:nvCxnSpPr>
        <p:spPr>
          <a:xfrm>
            <a:off x="0" y="817983"/>
            <a:ext cx="9144000" cy="0"/>
          </a:xfrm>
          <a:prstGeom prst="line">
            <a:avLst/>
          </a:prstGeom>
          <a:ln w="28575">
            <a:solidFill>
              <a:srgbClr val="2354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399A4C8-729A-2053-C10E-44A379642505}"/>
              </a:ext>
            </a:extLst>
          </p:cNvPr>
          <p:cNvSpPr/>
          <p:nvPr/>
        </p:nvSpPr>
        <p:spPr>
          <a:xfrm>
            <a:off x="325821" y="381187"/>
            <a:ext cx="875962" cy="872358"/>
          </a:xfrm>
          <a:prstGeom prst="rect">
            <a:avLst/>
          </a:prstGeom>
          <a:solidFill>
            <a:srgbClr val="23549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8816FC2-8DF9-BF02-5186-AB0D621A01F3}"/>
              </a:ext>
            </a:extLst>
          </p:cNvPr>
          <p:cNvSpPr txBox="1"/>
          <p:nvPr/>
        </p:nvSpPr>
        <p:spPr>
          <a:xfrm>
            <a:off x="1739872" y="200917"/>
            <a:ext cx="60196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>
                <a:latin typeface="Yu Gothic" panose="020B0400000000000000" pitchFamily="34" charset="-128"/>
                <a:ea typeface="Yu Gothic" panose="020B0400000000000000" pitchFamily="34" charset="-128"/>
              </a:rPr>
              <a:t>演者モデル候補と予算感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89E10AA-8C1A-BAAF-16F0-2200DB7BE66C}"/>
              </a:ext>
            </a:extLst>
          </p:cNvPr>
          <p:cNvSpPr txBox="1"/>
          <p:nvPr/>
        </p:nvSpPr>
        <p:spPr>
          <a:xfrm>
            <a:off x="3862571" y="2041738"/>
            <a:ext cx="52814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>
                <a:latin typeface="Yu Gothic" panose="020B0400000000000000" pitchFamily="34" charset="-128"/>
                <a:ea typeface="Yu Gothic" panose="020B0400000000000000" pitchFamily="34" charset="-128"/>
              </a:rPr>
              <a:t>神陽夕奈</a:t>
            </a:r>
            <a:r>
              <a:rPr kumimoji="1" lang="en-US" altLang="ja-JP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/</a:t>
            </a:r>
            <a:r>
              <a:rPr kumimoji="1" lang="ja-JP" altLang="en-US" sz="2400">
                <a:latin typeface="Yu Gothic" panose="020B0400000000000000" pitchFamily="34" charset="-128"/>
                <a:ea typeface="Yu Gothic" panose="020B0400000000000000" pitchFamily="34" charset="-128"/>
              </a:rPr>
              <a:t>フリーモデル</a:t>
            </a:r>
            <a:r>
              <a:rPr kumimoji="1" lang="en-US" altLang="ja-JP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/</a:t>
            </a:r>
            <a:r>
              <a:rPr kumimoji="1" lang="ja-JP" altLang="en-US" sz="2400">
                <a:latin typeface="Yu Gothic" panose="020B0400000000000000" pitchFamily="34" charset="-128"/>
                <a:ea typeface="Yu Gothic" panose="020B0400000000000000" pitchFamily="34" charset="-128"/>
              </a:rPr>
              <a:t>長野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CE0D73C-0EE5-4C5B-0C53-84CAFA091F68}"/>
              </a:ext>
            </a:extLst>
          </p:cNvPr>
          <p:cNvSpPr txBox="1"/>
          <p:nvPr/>
        </p:nvSpPr>
        <p:spPr>
          <a:xfrm>
            <a:off x="4409239" y="5523528"/>
            <a:ext cx="44524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u="sng" dirty="0">
                <a:latin typeface="Yu Gothic" panose="020B0400000000000000" pitchFamily="34" charset="-128"/>
                <a:ea typeface="Yu Gothic" panose="020B0400000000000000" pitchFamily="34" charset="-128"/>
              </a:rPr>
              <a:t>¥40,000/</a:t>
            </a:r>
            <a:r>
              <a:rPr kumimoji="1" lang="ja-JP" altLang="en-US" sz="1600" u="sng">
                <a:latin typeface="Yu Gothic" panose="020B0400000000000000" pitchFamily="34" charset="-128"/>
                <a:ea typeface="Yu Gothic" panose="020B0400000000000000" pitchFamily="34" charset="-128"/>
              </a:rPr>
              <a:t>回（</a:t>
            </a:r>
            <a:r>
              <a:rPr kumimoji="1" lang="en-US" altLang="ja-JP" sz="1600" u="sng" dirty="0">
                <a:latin typeface="Yu Gothic" panose="020B0400000000000000" pitchFamily="34" charset="-128"/>
                <a:ea typeface="Yu Gothic" panose="020B0400000000000000" pitchFamily="34" charset="-128"/>
              </a:rPr>
              <a:t>※</a:t>
            </a:r>
            <a:r>
              <a:rPr kumimoji="1" lang="ja-JP" altLang="en-US" sz="1600" u="sng">
                <a:latin typeface="Yu Gothic" panose="020B0400000000000000" pitchFamily="34" charset="-128"/>
                <a:ea typeface="Yu Gothic" panose="020B0400000000000000" pitchFamily="34" charset="-128"/>
              </a:rPr>
              <a:t>別途交通費）</a:t>
            </a:r>
            <a:r>
              <a:rPr kumimoji="1" lang="en-US" altLang="ja-JP" sz="1600" u="sng" dirty="0">
                <a:latin typeface="Yu Gothic" panose="020B0400000000000000" pitchFamily="34" charset="-128"/>
                <a:ea typeface="Yu Gothic" panose="020B0400000000000000" pitchFamily="34" charset="-128"/>
              </a:rPr>
              <a:t>×</a:t>
            </a:r>
            <a:r>
              <a:rPr kumimoji="1" lang="ja-JP" altLang="en-US" sz="1600" u="sng">
                <a:latin typeface="Yu Gothic" panose="020B0400000000000000" pitchFamily="34" charset="-128"/>
                <a:ea typeface="Yu Gothic" panose="020B0400000000000000" pitchFamily="34" charset="-128"/>
              </a:rPr>
              <a:t>撮影回数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15236EC1-BCDF-8984-24AF-8157EEE58D1E}"/>
              </a:ext>
            </a:extLst>
          </p:cNvPr>
          <p:cNvSpPr/>
          <p:nvPr/>
        </p:nvSpPr>
        <p:spPr>
          <a:xfrm>
            <a:off x="4409240" y="3203842"/>
            <a:ext cx="1081481" cy="251598"/>
          </a:xfrm>
          <a:prstGeom prst="rect">
            <a:avLst/>
          </a:prstGeom>
          <a:solidFill>
            <a:srgbClr val="235490"/>
          </a:solidFill>
          <a:ln>
            <a:solidFill>
              <a:srgbClr val="2354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1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SNS</a:t>
            </a:r>
            <a:endParaRPr kumimoji="1" lang="ja-JP" altLang="en-US" sz="1100" b="1">
              <a:solidFill>
                <a:schemeClr val="bg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7" name="テキスト ボックス 16">
            <a:hlinkClick r:id="rId3"/>
            <a:extLst>
              <a:ext uri="{FF2B5EF4-FFF2-40B4-BE49-F238E27FC236}">
                <a16:creationId xmlns:a16="http://schemas.microsoft.com/office/drawing/2014/main" id="{FC9C153E-E6BB-67B9-312D-AD24BF889521}"/>
              </a:ext>
            </a:extLst>
          </p:cNvPr>
          <p:cNvSpPr txBox="1"/>
          <p:nvPr/>
        </p:nvSpPr>
        <p:spPr>
          <a:xfrm>
            <a:off x="4409240" y="3727158"/>
            <a:ext cx="34836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ja-JP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https://</a:t>
            </a:r>
            <a:r>
              <a:rPr kumimoji="1" lang="en" altLang="ja-JP" sz="1200" dirty="0" err="1">
                <a:latin typeface="Yu Gothic" panose="020B0400000000000000" pitchFamily="34" charset="-128"/>
                <a:ea typeface="Yu Gothic" panose="020B0400000000000000" pitchFamily="34" charset="-128"/>
              </a:rPr>
              <a:t>www.instagram.com</a:t>
            </a:r>
            <a:r>
              <a:rPr kumimoji="1" lang="en" altLang="ja-JP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/sun8__himawari</a:t>
            </a:r>
            <a:endParaRPr kumimoji="1" lang="ja-JP" altLang="en-US" sz="120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ED3EEB83-1ED2-D8C8-5C52-E8A9183884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5221" y="3102305"/>
            <a:ext cx="430463" cy="430463"/>
          </a:xfrm>
          <a:prstGeom prst="rect">
            <a:avLst/>
          </a:prstGeom>
        </p:spPr>
      </p:pic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F8782DA0-B9E3-29A5-9095-AE50CDA29FD9}"/>
              </a:ext>
            </a:extLst>
          </p:cNvPr>
          <p:cNvSpPr txBox="1"/>
          <p:nvPr/>
        </p:nvSpPr>
        <p:spPr>
          <a:xfrm>
            <a:off x="6175684" y="3203842"/>
            <a:ext cx="8210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FW 723</a:t>
            </a:r>
            <a:endParaRPr kumimoji="1" lang="ja-JP" altLang="en-US" sz="1400" b="1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DD5B5BB3-1630-3A72-9FE0-34A30993DD7F}"/>
              </a:ext>
            </a:extLst>
          </p:cNvPr>
          <p:cNvSpPr/>
          <p:nvPr/>
        </p:nvSpPr>
        <p:spPr>
          <a:xfrm>
            <a:off x="4409239" y="5002418"/>
            <a:ext cx="1081481" cy="251598"/>
          </a:xfrm>
          <a:prstGeom prst="rect">
            <a:avLst/>
          </a:prstGeom>
          <a:solidFill>
            <a:srgbClr val="235490"/>
          </a:solidFill>
          <a:ln>
            <a:solidFill>
              <a:srgbClr val="2354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想定予算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E55B5BB2-9580-E714-22DD-F2E9E6548D6B}"/>
              </a:ext>
            </a:extLst>
          </p:cNvPr>
          <p:cNvSpPr txBox="1"/>
          <p:nvPr/>
        </p:nvSpPr>
        <p:spPr>
          <a:xfrm>
            <a:off x="583304" y="586533"/>
            <a:ext cx="360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4</a:t>
            </a:r>
            <a:endParaRPr kumimoji="1" lang="ja-JP" altLang="en-US" sz="2400" b="1">
              <a:solidFill>
                <a:schemeClr val="bg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A5DDE186-CEED-B68A-69E2-60B7746F36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3179" y="301439"/>
            <a:ext cx="1905000" cy="31750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234276DD-55F9-39F7-0971-FAD052878D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9354" y="4003617"/>
            <a:ext cx="450625" cy="45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723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AEF39-9317-3481-FFF1-B74F70D76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400C1343-A503-466C-B4F2-8E78F7A358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894" y="1804535"/>
            <a:ext cx="3624600" cy="4057515"/>
          </a:xfrm>
          <a:prstGeom prst="rect">
            <a:avLst/>
          </a:prstGeom>
        </p:spPr>
      </p:pic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C52F3DB3-A6BE-59C2-766F-FEB26A10AA3A}"/>
              </a:ext>
            </a:extLst>
          </p:cNvPr>
          <p:cNvCxnSpPr>
            <a:cxnSpLocks/>
          </p:cNvCxnSpPr>
          <p:nvPr/>
        </p:nvCxnSpPr>
        <p:spPr>
          <a:xfrm>
            <a:off x="0" y="817983"/>
            <a:ext cx="9144000" cy="0"/>
          </a:xfrm>
          <a:prstGeom prst="line">
            <a:avLst/>
          </a:prstGeom>
          <a:ln w="28575">
            <a:solidFill>
              <a:srgbClr val="2354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2C345B07-A721-043D-90A6-84BD7B7E3FA6}"/>
              </a:ext>
            </a:extLst>
          </p:cNvPr>
          <p:cNvSpPr/>
          <p:nvPr/>
        </p:nvSpPr>
        <p:spPr>
          <a:xfrm>
            <a:off x="325821" y="381187"/>
            <a:ext cx="875962" cy="872358"/>
          </a:xfrm>
          <a:prstGeom prst="rect">
            <a:avLst/>
          </a:prstGeom>
          <a:solidFill>
            <a:srgbClr val="23549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C7B2B315-1063-022D-1DB6-4990D27E44E5}"/>
              </a:ext>
            </a:extLst>
          </p:cNvPr>
          <p:cNvSpPr txBox="1"/>
          <p:nvPr/>
        </p:nvSpPr>
        <p:spPr>
          <a:xfrm>
            <a:off x="1739872" y="200917"/>
            <a:ext cx="60196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>
                <a:latin typeface="Yu Gothic" panose="020B0400000000000000" pitchFamily="34" charset="-128"/>
                <a:ea typeface="Yu Gothic" panose="020B0400000000000000" pitchFamily="34" charset="-128"/>
              </a:rPr>
              <a:t>演者モデル候補と予算感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44457ED-8672-5F38-91A2-458AEC199C62}"/>
              </a:ext>
            </a:extLst>
          </p:cNvPr>
          <p:cNvSpPr txBox="1"/>
          <p:nvPr/>
        </p:nvSpPr>
        <p:spPr>
          <a:xfrm>
            <a:off x="4051754" y="2041738"/>
            <a:ext cx="52814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>
                <a:latin typeface="Yu Gothic" panose="020B0400000000000000" pitchFamily="34" charset="-128"/>
                <a:ea typeface="Yu Gothic" panose="020B0400000000000000" pitchFamily="34" charset="-128"/>
              </a:rPr>
              <a:t>桜川千穂</a:t>
            </a:r>
            <a:r>
              <a:rPr kumimoji="1" lang="en-US" altLang="ja-JP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/</a:t>
            </a:r>
            <a:r>
              <a:rPr kumimoji="1" lang="ja-JP" altLang="en-US" sz="2400">
                <a:latin typeface="Yu Gothic" panose="020B0400000000000000" pitchFamily="34" charset="-128"/>
                <a:ea typeface="Yu Gothic" panose="020B0400000000000000" pitchFamily="34" charset="-128"/>
              </a:rPr>
              <a:t>フリーモデル</a:t>
            </a:r>
            <a:r>
              <a:rPr kumimoji="1" lang="en-US" altLang="ja-JP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/</a:t>
            </a:r>
            <a:r>
              <a:rPr kumimoji="1" lang="ja-JP" altLang="en-US" sz="2400">
                <a:latin typeface="Yu Gothic" panose="020B0400000000000000" pitchFamily="34" charset="-128"/>
                <a:ea typeface="Yu Gothic" panose="020B0400000000000000" pitchFamily="34" charset="-128"/>
              </a:rPr>
              <a:t>新潟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54DF49C-220F-D01E-5D38-A034E9C65CAF}"/>
              </a:ext>
            </a:extLst>
          </p:cNvPr>
          <p:cNvSpPr txBox="1"/>
          <p:nvPr/>
        </p:nvSpPr>
        <p:spPr>
          <a:xfrm>
            <a:off x="4598422" y="5523528"/>
            <a:ext cx="44524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u="sng" dirty="0">
                <a:latin typeface="Yu Gothic" panose="020B0400000000000000" pitchFamily="34" charset="-128"/>
                <a:ea typeface="Yu Gothic" panose="020B0400000000000000" pitchFamily="34" charset="-128"/>
              </a:rPr>
              <a:t>¥55,000/</a:t>
            </a:r>
            <a:r>
              <a:rPr kumimoji="1" lang="ja-JP" altLang="en-US" sz="1600" u="sng">
                <a:latin typeface="Yu Gothic" panose="020B0400000000000000" pitchFamily="34" charset="-128"/>
                <a:ea typeface="Yu Gothic" panose="020B0400000000000000" pitchFamily="34" charset="-128"/>
              </a:rPr>
              <a:t>回（</a:t>
            </a:r>
            <a:r>
              <a:rPr kumimoji="1" lang="en-US" altLang="ja-JP" sz="1600" u="sng" dirty="0">
                <a:latin typeface="Yu Gothic" panose="020B0400000000000000" pitchFamily="34" charset="-128"/>
                <a:ea typeface="Yu Gothic" panose="020B0400000000000000" pitchFamily="34" charset="-128"/>
              </a:rPr>
              <a:t>※</a:t>
            </a:r>
            <a:r>
              <a:rPr kumimoji="1" lang="ja-JP" altLang="en-US" sz="1600" u="sng">
                <a:latin typeface="Yu Gothic" panose="020B0400000000000000" pitchFamily="34" charset="-128"/>
                <a:ea typeface="Yu Gothic" panose="020B0400000000000000" pitchFamily="34" charset="-128"/>
              </a:rPr>
              <a:t>別途交通費）</a:t>
            </a:r>
            <a:r>
              <a:rPr kumimoji="1" lang="en-US" altLang="ja-JP" sz="1600" u="sng" dirty="0">
                <a:latin typeface="Yu Gothic" panose="020B0400000000000000" pitchFamily="34" charset="-128"/>
                <a:ea typeface="Yu Gothic" panose="020B0400000000000000" pitchFamily="34" charset="-128"/>
              </a:rPr>
              <a:t>×</a:t>
            </a:r>
            <a:r>
              <a:rPr kumimoji="1" lang="ja-JP" altLang="en-US" sz="1600" u="sng">
                <a:latin typeface="Yu Gothic" panose="020B0400000000000000" pitchFamily="34" charset="-128"/>
                <a:ea typeface="Yu Gothic" panose="020B0400000000000000" pitchFamily="34" charset="-128"/>
              </a:rPr>
              <a:t>撮影回数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5ACD5150-1321-6A52-967D-DD8E25F9B87D}"/>
              </a:ext>
            </a:extLst>
          </p:cNvPr>
          <p:cNvSpPr/>
          <p:nvPr/>
        </p:nvSpPr>
        <p:spPr>
          <a:xfrm>
            <a:off x="4598423" y="3203842"/>
            <a:ext cx="1081481" cy="251598"/>
          </a:xfrm>
          <a:prstGeom prst="rect">
            <a:avLst/>
          </a:prstGeom>
          <a:solidFill>
            <a:srgbClr val="235490"/>
          </a:solidFill>
          <a:ln>
            <a:solidFill>
              <a:srgbClr val="2354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1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SNS</a:t>
            </a:r>
            <a:endParaRPr kumimoji="1" lang="ja-JP" altLang="en-US" sz="1100" b="1">
              <a:solidFill>
                <a:schemeClr val="bg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7" name="テキスト ボックス 16">
            <a:hlinkClick r:id="rId3"/>
            <a:extLst>
              <a:ext uri="{FF2B5EF4-FFF2-40B4-BE49-F238E27FC236}">
                <a16:creationId xmlns:a16="http://schemas.microsoft.com/office/drawing/2014/main" id="{041598AB-63E4-28FA-2B86-A4E5AA26D752}"/>
              </a:ext>
            </a:extLst>
          </p:cNvPr>
          <p:cNvSpPr txBox="1"/>
          <p:nvPr/>
        </p:nvSpPr>
        <p:spPr>
          <a:xfrm>
            <a:off x="4598423" y="3727158"/>
            <a:ext cx="35814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ja-JP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https://</a:t>
            </a:r>
            <a:r>
              <a:rPr kumimoji="1" lang="en" altLang="ja-JP" sz="1200" dirty="0" err="1">
                <a:latin typeface="Yu Gothic" panose="020B0400000000000000" pitchFamily="34" charset="-128"/>
                <a:ea typeface="Yu Gothic" panose="020B0400000000000000" pitchFamily="34" charset="-128"/>
              </a:rPr>
              <a:t>www.instagram.com</a:t>
            </a:r>
            <a:r>
              <a:rPr kumimoji="1" lang="en" altLang="ja-JP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/</a:t>
            </a:r>
            <a:r>
              <a:rPr kumimoji="1" lang="en" altLang="ja-JP" sz="1200" dirty="0" err="1">
                <a:latin typeface="Yu Gothic" panose="020B0400000000000000" pitchFamily="34" charset="-128"/>
                <a:ea typeface="Yu Gothic" panose="020B0400000000000000" pitchFamily="34" charset="-128"/>
              </a:rPr>
              <a:t>chiho_sakuragawa</a:t>
            </a:r>
            <a:endParaRPr kumimoji="1" lang="ja-JP" altLang="en-US" sz="120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7CE94F07-2C80-6368-4EAD-5C739A469E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4404" y="3102305"/>
            <a:ext cx="430463" cy="430463"/>
          </a:xfrm>
          <a:prstGeom prst="rect">
            <a:avLst/>
          </a:prstGeom>
        </p:spPr>
      </p:pic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C4FC5F48-3532-BD42-B996-E7A4E7ADC589}"/>
              </a:ext>
            </a:extLst>
          </p:cNvPr>
          <p:cNvSpPr txBox="1"/>
          <p:nvPr/>
        </p:nvSpPr>
        <p:spPr>
          <a:xfrm>
            <a:off x="6364867" y="3203842"/>
            <a:ext cx="9733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FW 5,063</a:t>
            </a:r>
            <a:endParaRPr kumimoji="1" lang="ja-JP" altLang="en-US" sz="1400" b="1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3469710D-5BC2-2CCB-9212-E281F3193005}"/>
              </a:ext>
            </a:extLst>
          </p:cNvPr>
          <p:cNvSpPr/>
          <p:nvPr/>
        </p:nvSpPr>
        <p:spPr>
          <a:xfrm>
            <a:off x="4598422" y="5002418"/>
            <a:ext cx="1081481" cy="251598"/>
          </a:xfrm>
          <a:prstGeom prst="rect">
            <a:avLst/>
          </a:prstGeom>
          <a:solidFill>
            <a:srgbClr val="235490"/>
          </a:solidFill>
          <a:ln>
            <a:solidFill>
              <a:srgbClr val="2354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想定予算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2D877081-09A0-A042-F237-545A4259A118}"/>
              </a:ext>
            </a:extLst>
          </p:cNvPr>
          <p:cNvSpPr txBox="1"/>
          <p:nvPr/>
        </p:nvSpPr>
        <p:spPr>
          <a:xfrm>
            <a:off x="583304" y="586533"/>
            <a:ext cx="360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5</a:t>
            </a:r>
            <a:endParaRPr kumimoji="1" lang="ja-JP" altLang="en-US" sz="2400" b="1">
              <a:solidFill>
                <a:schemeClr val="bg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BAE5394-EA6A-B69A-7CE0-31DD8A130B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3179" y="301439"/>
            <a:ext cx="1905000" cy="3175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AA44D422-A85A-4B50-F6A4-693F318CBE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8537" y="4017420"/>
            <a:ext cx="450625" cy="45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5055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1155</TotalTime>
  <Words>198</Words>
  <Application>Microsoft Macintosh PowerPoint</Application>
  <PresentationFormat>画面に合わせる (4:3)</PresentationFormat>
  <Paragraphs>40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1" baseType="lpstr">
      <vt:lpstr>游ゴシック</vt:lpstr>
      <vt:lpstr>游ゴシック</vt:lpstr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颯斗 細川</dc:creator>
  <cp:lastModifiedBy>拓弥 藤本</cp:lastModifiedBy>
  <cp:revision>35</cp:revision>
  <dcterms:created xsi:type="dcterms:W3CDTF">2025-06-12T11:19:29Z</dcterms:created>
  <dcterms:modified xsi:type="dcterms:W3CDTF">2025-06-16T11:59:22Z</dcterms:modified>
</cp:coreProperties>
</file>